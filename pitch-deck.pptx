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8922A"/>
                </a:solidFill>
                <a:latin typeface="Archivo Black"/>
              </a:defRPr>
            </a:pPr>
            <a:r>
              <a:t>AsiliChain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Inter"/>
              </a:defRPr>
            </a:pPr>
            <a:r>
              <a:t>Coffee Supply Chain Finance on Mantle</a:t>
            </a:r>
            <a:br/>
            <a:r>
              <a:t>Secure, Auditable, Accessible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557"/>
                </a:solidFill>
                <a:latin typeface="Archivo Black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Uganda coffee: 3.5M farmers, $2.4B exports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55-77% unbanked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30-40% MFI rates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EUDR compliance costs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No on-chain credit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557"/>
                </a:solidFill>
                <a:latin typeface="Archivo Black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One platform: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GPS-verified crops → on-chain tokenization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→ instant MoMo payout → automated EUDR compliance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Traction: In conversations with 3 SACCO cooperatives in Mbale region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557"/>
                </a:solidFill>
                <a:latin typeface="Archivo Black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3557"/>
                </a:solidFill>
                <a:latin typeface="Inter"/>
              </a:defRPr>
            </a:pPr>
            <a:r>
              <a:t>Farmer dials *384# → API → MAAIF → Mantle → HCS → Fonbnk → MTN MoMo</a:t>
            </a:r>
          </a:p>
          <a:p>
            <a:pPr algn="ctr">
              <a:spcBef>
                <a:spcPts val="2000"/>
              </a:spcBef>
              <a:defRPr sz="1800">
                <a:solidFill>
                  <a:srgbClr val="1A3557"/>
                </a:solidFill>
                <a:latin typeface="Inter"/>
              </a:defRPr>
            </a:pPr>
            <a:r>
              <a:t>8 custody stages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557"/>
                </a:solidFill>
                <a:latin typeface="Archivo Black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1A3557"/>
                </a:solidFill>
                <a:latin typeface="Inter"/>
              </a:defRPr>
            </a:pPr>
            <a:r>
              <a:t>Ethereum security → Mantle ZK (8 contracts) → Hedera HCS audit → Mobile Money payout</a:t>
            </a:r>
          </a:p>
          <a:p>
            <a:pPr algn="ctr">
              <a:spcBef>
                <a:spcPts val="2000"/>
              </a:spcBef>
              <a:defRPr sz="1600">
                <a:solidFill>
                  <a:srgbClr val="1A3557"/>
                </a:solidFill>
                <a:latin typeface="Inter"/>
              </a:defRPr>
            </a:pPr>
            <a:r>
              <a:t>AI intelligence layer (Risk Monitor + Anomaly Detector, ERC-8004)</a:t>
            </a:r>
          </a:p>
          <a:p>
            <a:pPr algn="ctr">
              <a:spcBef>
                <a:spcPts val="1500"/>
              </a:spcBef>
              <a:defRPr sz="1600">
                <a:solidFill>
                  <a:srgbClr val="1A3557"/>
                </a:solidFill>
                <a:latin typeface="Inter"/>
              </a:defRPr>
            </a:pPr>
            <a:r>
              <a:t>Single-chain Mantle for low gas (~$7/yr per cooperative)</a:t>
            </a:r>
          </a:p>
          <a:p>
            <a:pPr algn="ctr">
              <a:spcBef>
                <a:spcPts val="1500"/>
              </a:spcBef>
              <a:defRPr sz="1600">
                <a:solidFill>
                  <a:srgbClr val="1A3557"/>
                </a:solidFill>
                <a:latin typeface="Inter"/>
              </a:defRPr>
            </a:pPr>
            <a:r>
              <a:t>Hedera for immutable audit trail</a:t>
            </a:r>
          </a:p>
          <a:p>
            <a:pPr algn="ctr">
              <a:spcBef>
                <a:spcPts val="1500"/>
              </a:spcBef>
              <a:defRPr sz="1600">
                <a:solidFill>
                  <a:srgbClr val="1A3557"/>
                </a:solidFill>
                <a:latin typeface="Inter"/>
              </a:defRPr>
            </a:pPr>
            <a:r>
              <a:t>No parallel database — all state on-chain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557"/>
                </a:solidFill>
                <a:latin typeface="Archivo Black"/>
              </a:defRPr>
            </a:pPr>
            <a:r>
              <a:t>Technical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Why it's hard: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• UUPS upgradeable contracts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• CCIP bridge tested (Mantle → Base)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• 16% APR all-in (10% MFI + 4% protocol + 2% reserve)</a:t>
            </a:r>
          </a:p>
          <a:p>
            <a:pPr>
              <a:spcAft>
                <a:spcPts val="1200"/>
              </a:spcAft>
              <a:defRPr sz="1800">
                <a:solidFill>
                  <a:srgbClr val="1A3557"/>
                </a:solidFill>
                <a:latin typeface="Inter"/>
              </a:defRPr>
            </a:pPr>
            <a:r>
              <a:t>• Credit loss reserve protects MFIs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557"/>
                </a:solidFill>
                <a:latin typeface="Archivo Black"/>
              </a:defRPr>
            </a:pPr>
            <a:r>
              <a:t>Innovation + Mantle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922A"/>
                </a:solidFill>
                <a:latin typeface="Archivo Black"/>
              </a:defRPr>
            </a:pPr>
            <a:r>
              <a:t>What's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First on-chain coffee supply chain</a:t>
            </a:r>
          </a:p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NIN-derived deterministic wallets</a:t>
            </a:r>
          </a:p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GPS → EUDR auto-compliance</a:t>
            </a:r>
          </a:p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AI agents with NFT identity</a:t>
            </a:r>
          </a:p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No parallel database — MAAIF data exclusivity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6459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922A"/>
                </a:solidFill>
                <a:latin typeface="Archivo Black"/>
              </a:defRPr>
            </a:pPr>
            <a:r>
              <a:t>Why Mantle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2860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100% on Mantle (no multi-chain)</a:t>
            </a:r>
          </a:p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CCIP bridge to Base for Fonbnk</a:t>
            </a:r>
          </a:p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ZK rollup for low gas</a:t>
            </a:r>
          </a:p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Mantle's TaaS framework</a:t>
            </a:r>
          </a:p>
          <a:p>
            <a:pPr>
              <a:spcAft>
                <a:spcPts val="1000"/>
              </a:spcAft>
              <a:defRPr sz="1600">
                <a:solidFill>
                  <a:srgbClr val="1A3557"/>
                </a:solidFill>
                <a:latin typeface="Inter"/>
              </a:defRPr>
            </a:pPr>
            <a:r>
              <a:t>• Cheapest L2 for high-frequency transactions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557"/>
                </a:solidFill>
                <a:latin typeface="Archivo Black"/>
              </a:defRPr>
            </a:pPr>
            <a:r>
              <a:t>Product Completeness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22A"/>
                </a:solidFill>
                <a:latin typeface="Archivo Black"/>
              </a:defRPr>
            </a:pPr>
            <a:r>
              <a:t>Live Demo</a:t>
            </a:r>
          </a:p>
          <a:p>
            <a:pPr algn="ctr">
              <a:spcBef>
                <a:spcPts val="2000"/>
              </a:spcBef>
              <a:defRPr sz="2400">
                <a:solidFill>
                  <a:srgbClr val="1A3557"/>
                </a:solidFill>
                <a:latin typeface="Inter"/>
              </a:defRPr>
            </a:pPr>
            <a:r>
              <a:t>asilichain.xyz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557"/>
                </a:solidFill>
                <a:latin typeface="Archivo Black"/>
              </a:defRPr>
            </a:pPr>
            <a:r>
              <a:t>Asilinomics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Revenue model:</a:t>
            </a:r>
          </a:p>
          <a:p>
            <a:r>
              <a:rPr/>
              <a:t>• 4% APR protocol fee on all loans</a:t>
            </a:r>
          </a:p>
          <a:p>
            <a:r>
              <a:rPr/>
              <a:t>• 2% credit loss reserve</a:t>
            </a:r>
          </a:p>
          <a:p>
            <a:r>
              <a:rPr/>
              <a:t>• $25 per DDS generated (EUDR compliance per export batch)</a:t>
            </a:r>
          </a:p>
          <a:p/>
          <a:p>
            <a:r>
              <a:rPr/>
              <a:t>Adoption path:</a:t>
            </a:r>
          </a:p>
          <a:p>
            <a:r>
              <a:rPr/>
              <a:t>• Phase 1: 10 co-ops (pilot)</a:t>
            </a:r>
          </a:p>
          <a:p>
            <a:r>
              <a:rPr/>
              <a:t>• Phase 2: 100 co-ops (regional)</a:t>
            </a:r>
          </a:p>
          <a:p>
            <a:r>
              <a:rPr/>
              <a:t>• Phase 3: 1,000 co-ops (national)</a:t>
            </a:r>
          </a:p>
          <a:p>
            <a:r>
              <a:rPr/>
              <a:t>• MAAIF as distribution partner: 10-region rollout via SACCO network</a:t>
            </a:r>
          </a:p>
          <a:p/>
          <a:p>
            <a:r>
              <a:rPr/>
              <a:t>Per farmer: $20/yr protocol revenue • ~$1/yr cost = ~$19/yr net</a:t>
            </a:r>
          </a:p>
          <a:p>
            <a:r>
              <a:rPr/>
              <a:t>• Batch-level: $25/DDS per export batch (EUDR compliance)</a:t>
            </a:r>
          </a:p>
          <a:p/>
          <a:p>
            <a:r>
              <a:rPr/>
              <a:t>Target: 1,000 cooperatives × $500K avg loan book = $500M TVL</a:t>
            </a:r>
          </a:p>
          <a:p>
            <a:r>
              <a:rPr/>
              <a:t>= $20M annual protocol revenue</a:t>
            </a:r>
          </a:p>
          <a:p/>
          <a:p>
            <a:r>
              <a:rPr/>
              <a:t>Future: GPS-verified deforestation data enables carbon credit generation on Hedera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8922A"/>
                </a:solidFill>
                <a:latin typeface="Archivo Black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chivo Black"/>
              </a:defRPr>
            </a:pPr>
            <a:r>
              <a:t>Mucunguzi Moses</a:t>
            </a:r>
          </a:p>
          <a:p>
            <a:pPr algn="ctr">
              <a:spcBef>
                <a:spcPts val="2000"/>
              </a:spcBef>
              <a:defRPr sz="2000">
                <a:solidFill>
                  <a:srgbClr val="FFFFFF"/>
                </a:solidFill>
                <a:latin typeface="Inter"/>
              </a:defRPr>
            </a:pPr>
            <a:r>
              <a:t>5 years Ethereum Contributor</a:t>
            </a:r>
          </a:p>
          <a:p>
            <a:pPr algn="ctr">
              <a:spcBef>
                <a:spcPts val="1000"/>
              </a:spcBef>
              <a:defRPr sz="2000">
                <a:solidFill>
                  <a:srgbClr val="FFFFFF"/>
                </a:solidFill>
                <a:latin typeface="Inter"/>
              </a:defRPr>
            </a:pPr>
            <a:r>
              <a:t>African web3 builder &amp; Advocate</a:t>
            </a:r>
          </a:p>
          <a:p>
            <a:pPr algn="ctr">
              <a:spcBef>
                <a:spcPts val="3000"/>
              </a:spcBef>
              <a:defRPr sz="1800">
                <a:solidFill>
                  <a:srgbClr val="C8922A"/>
                </a:solidFill>
                <a:latin typeface="Inter"/>
              </a:defRPr>
            </a:pPr>
            <a:r>
              <a:t>Solo developer, 2 weeks to MVP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8922A"/>
                </a:solidFill>
                <a:latin typeface="Archivo Black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Inter"/>
              </a:defRPr>
            </a:pPr>
            <a:r>
              <a:t>asilichain.xyz</a:t>
            </a:r>
          </a:p>
          <a:p>
            <a:pPr algn="ctr">
              <a:spcBef>
                <a:spcPts val="1500"/>
              </a:spcBef>
              <a:defRPr sz="2400">
                <a:solidFill>
                  <a:srgbClr val="FFFFFF"/>
                </a:solidFill>
                <a:latin typeface="Inter"/>
              </a:defRPr>
            </a:pPr>
            <a:r>
              <a:t>docs.asilichain.xyz</a:t>
            </a:r>
          </a:p>
          <a:p>
            <a:pPr algn="ctr">
              <a:spcBef>
                <a:spcPts val="3000"/>
              </a:spcBef>
              <a:defRPr sz="2000">
                <a:solidFill>
                  <a:srgbClr val="F5F5F5"/>
                </a:solidFill>
                <a:latin typeface="Inter"/>
              </a:defRPr>
            </a:pPr>
            <a:r>
              <a:t>github.com/AsiliChain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